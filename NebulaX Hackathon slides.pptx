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embeddedFontLs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149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744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numbers are our own Leave-One-Out estimates on training data — the real competition score is computed by the organisers on a held-out test set we never see
Every score is reported honestly including the weak points (Door's tightest edge case, Rail Corrugation's Side I precision, ACV's schema gap) — not smoothed 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2146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PS3: Train Condition Monitoring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5982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 Vehicle Predictive Maintenance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3594743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2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Train of Thought</a:t>
            </a:r>
          </a:p>
          <a:p>
            <a:pPr algn="l">
              <a:lnSpc>
                <a:spcPct val="133000"/>
              </a:lnSpc>
              <a:buSzPct val="100000"/>
            </a:pPr>
            <a:r>
              <a:rPr lang="en-US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Meiyi, Yujie, Chongyao</a:t>
            </a:r>
            <a:endParaRPr lang="en-US" sz="1200" dirty="0"/>
          </a:p>
        </p:txBody>
      </p:sp>
      <p:pic>
        <p:nvPicPr>
          <p:cNvPr id="1026" name="Picture 2" descr="LTA buys 40 new trains for North-South and East-West lines in $337.8m  contract | The Straits Times">
            <a:extLst>
              <a:ext uri="{FF2B5EF4-FFF2-40B4-BE49-F238E27FC236}">
                <a16:creationId xmlns:a16="http://schemas.microsoft.com/office/drawing/2014/main" id="{70CE597F-89E1-B6B4-2D0A-58F941C1A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778" y="3021496"/>
            <a:ext cx="5627826" cy="375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25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10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43038"/>
            <a:ext cx="10868745" cy="1077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 vehicles generate huge volumes of sensor data during normal operation</a:t>
            </a:r>
            <a:endParaRPr lang="en-US" sz="1350" dirty="0"/>
          </a:p>
          <a:p>
            <a:pPr marL="0" indent="0" algn="l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this into automated fault detection — instead of manual inspection or fixed thresholds — is a core condition-monitoring capability for operators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56420"/>
            <a:ext cx="5354007" cy="15319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7761" y="3070224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854748" y="3658790"/>
            <a:ext cx="49674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Door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4748" y="4027288"/>
            <a:ext cx="496746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segment detection + binary classification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113" y="2956420"/>
            <a:ext cx="5354107" cy="15319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22499" y="3070224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6369387" y="3658790"/>
            <a:ext cx="49675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ACV (HVAC)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369387" y="4027288"/>
            <a:ext cx="496756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localisation / ranking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48993"/>
            <a:ext cx="5354007" cy="15319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7761" y="4762797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854748" y="5351362"/>
            <a:ext cx="49674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Rail Corrugation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54748" y="5719861"/>
            <a:ext cx="496746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Multi-class classification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113" y="4648993"/>
            <a:ext cx="5354107" cy="15319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22499" y="4762797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6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6369387" y="5351362"/>
            <a:ext cx="49675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SHM (Structural Health)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369387" y="5719861"/>
            <a:ext cx="496756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7127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Approach, in One Line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39951"/>
            <a:ext cx="1086874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every subsystem: investigate the real data first, choose the simplest model that data actually supports, validate, then build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Leave-One-Out Cross-Validation used everywhere instead of k-fold — with classes as small as 14 examples, k-fold would leave some folds with zero minority examples, making the score meaningless</a:t>
            </a:r>
          </a:p>
          <a:p>
            <a:pPr marL="751840" lvl="1" indent="-294640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LOOCV tests every example once, never on its own training fold.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43235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10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Door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233360" y="1973163"/>
            <a:ext cx="6296860" cy="424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Task: segment each door open/close cycle from a continuous sensor stream, then classify it Normal vs. Abnormal-resistance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Method: split cycles wherever the timestamp gap exceeds 1 second, then classify each with a Logistic Regression on mean motor current, one model per operation (Open/Close)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Key finding: the logger only records rows while a door is moving, so segmentation reduces to finding gaps — and sustained current, not peak current, is what actually reveals resistance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Result: LOO score = 0.9909 (</a:t>
            </a:r>
            <a:r>
              <a:rPr lang="en-US" sz="1350" dirty="0" err="1">
                <a:latin typeface="Inter" panose="020B0604020202020204" charset="0"/>
                <a:ea typeface="Inter" panose="020B0604020202020204" charset="0"/>
              </a:rPr>
              <a:t>IoU</a:t>
            </a: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-weighted F1) — Open cycles 100% accurate, Close cycles 98.2%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8535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ACV — Cooling Behaviour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550120"/>
            <a:ext cx="6296860" cy="322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Task: identify which of 8 rail cars has a refrigerant leak, from multi-car HVAC telemetry</a:t>
            </a:r>
            <a:endParaRPr lang="en-US" sz="1450" dirty="0"/>
          </a:p>
          <a:p>
            <a:pPr marL="294640" indent="-294640" algn="l">
              <a:lnSpc>
                <a:spcPct val="150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Approach: for each car, compute mean cooling error (indoor temperature minus cooling control target) across its valid telemetry; rank cars by that error, worst first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Scoring: judged by linear rank-decay — (n − (r−1)) / n — so narrowing to a shortlist still earns partial credit, not just an exact top-1 hit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against 6 labelled training cases: 5 score perfectly (true faulty car ranked #1); a schema-robustness gap was found and is being tracked (see Known Limitations)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7985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SHM — Recovering a Physical Constant From Data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233360" y="1904603"/>
            <a:ext cx="6296860" cy="4405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Task: estimate cumulative fatigue damage from a raw dynamic-stress time series</a:t>
            </a:r>
            <a:endParaRPr lang="en-US" sz="1350" dirty="0"/>
          </a:p>
          <a:p>
            <a:pPr marL="0" indent="0" algn="l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Method: ASTM E1049 rainflow cycle counting extracts discrete stress cycles from the raw signal; Miner's-rule physics model estimates damage as proportional to Σ(cycle_count × amplitude^m) for a material fatigue exponent m</a:t>
            </a:r>
            <a:endParaRPr lang="en-US" sz="1350" dirty="0"/>
          </a:p>
          <a:p>
            <a:pPr marL="0" indent="0" algn="l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 rather than assuming m, it was grid-searched across candidate values — m = 5 won decisively, with the Leave-One-Out score peaking sharply at exactly that value (0.52 at m=4, 0.97 at m=5, 0.68 at m=6). Strong evidence the model recovered the dataset's true underlying fatigue exponent, not a coincidental fit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LOO score = 0.9738 at m=5 — beating a much more flexible generic RandomForest (0.9094) trained on the same data, with a single fitted parameter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4711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Rail Corrugation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769269"/>
            <a:ext cx="6296860" cy="4544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Task: classify each recording as Normal, Side I, or Side II corrugation from 129 vibration/shock channels, severely imbalanced (234 / 14 / 24 files)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Method: 9 pooled features (magnitude + side asymmetry across RMS, kurtosis, crest factor, plus speed) feeding a class-weighted </a:t>
            </a:r>
            <a:r>
              <a:rPr lang="en-US" sz="1350" dirty="0" err="1">
                <a:latin typeface="Inter" panose="020B0604020202020204" charset="0"/>
                <a:ea typeface="Inter" panose="020B0604020202020204" charset="0"/>
              </a:rPr>
              <a:t>RandomForest</a:t>
            </a:r>
            <a:endParaRPr lang="en-US" sz="1350" dirty="0"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Key finding: two promising single features looked clean on a handful of examples but failed once tested against all 272 files, which is why the model was validated on the full set, not a shortcut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Inter" panose="020B0604020202020204" charset="0"/>
                <a:ea typeface="Inter" panose="020B0604020202020204" charset="0"/>
              </a:rPr>
              <a:t>Result: macro F1 = 0.7048 — Side I is the known weak point, with only 14 training examples to define it</a:t>
            </a:r>
          </a:p>
          <a:p>
            <a:pPr marL="254000" indent="-254000" algn="l">
              <a:lnSpc>
                <a:spcPct val="150000"/>
              </a:lnSpc>
              <a:buSzPct val="100000"/>
              <a:buChar char="•"/>
            </a:pPr>
            <a:endParaRPr lang="en-US" sz="135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34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at a Glance</a:t>
            </a:r>
            <a:endParaRPr lang="en-US" sz="3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71772"/>
              </p:ext>
            </p:extLst>
          </p:nvPr>
        </p:nvGraphicFramePr>
        <p:xfrm>
          <a:off x="661475" y="2552105"/>
          <a:ext cx="10868745" cy="2709595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Subsystem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Door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IoU-weighted F1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0.9909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SHM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Leave-One-Out score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0.9738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Rail Corrugation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Macro F1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0.7048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ACV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Rank-decay (partial validation)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5/6 cases perfect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4" y="551656"/>
            <a:ext cx="8387109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App — One Interface, Four Models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61475" y="1425623"/>
            <a:ext cx="6296860" cy="4451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lightweight Python backend (standard library http.server, no framework dependencies) + a plain HTML/CSS/JS frontend </a:t>
            </a: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independent tabs, each wired to its subsystem's real trained model </a:t>
            </a: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upload per tab</a:t>
            </a:r>
          </a:p>
          <a:p>
            <a:pPr marL="721360" lvl="1" indent="-264160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multiple files at once</a:t>
            </a: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panel</a:t>
            </a: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Self-contained deployment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8ACF6-29FD-49A0-7990-463796C42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05" y="2414494"/>
            <a:ext cx="7167067" cy="4071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6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Cases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07331"/>
            <a:ext cx="3496877" cy="2916337"/>
          </a:xfrm>
          <a:prstGeom prst="roundRect">
            <a:avLst>
              <a:gd name="adj" fmla="val 27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70269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Depot maintenance triage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111375"/>
            <a:ext cx="310616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 drags in a batch of vehicles' sensor logs before a scheduled maintenance window and gets flagged predictions back in seconds, with plain-language reasoning for each subsystem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507331"/>
            <a:ext cx="3496877" cy="2916337"/>
          </a:xfrm>
          <a:prstGeom prst="roundRect">
            <a:avLst>
              <a:gd name="adj" fmla="val 27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1702693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Fleet-wide condition monitoring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406650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all four subsystems across an entire fleet's logs in one sitting for focused maintenance work, e.g. Corrugation classification tells you which rail side needs grinding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507331"/>
            <a:ext cx="3496877" cy="2916337"/>
          </a:xfrm>
          <a:prstGeom prst="roundRect">
            <a:avLst>
              <a:gd name="adj" fmla="val 27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1702693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Rapid model validation for judges/reviewers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406650"/>
            <a:ext cx="31061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Live, working pipeline to interact with directly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612680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80804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Downstream integration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5216723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JSON/CSV export means predictions can feed directly into a larger maintenance-scheduling or asset-management system without manual re-entry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612680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80804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onboarding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5216723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panel doubles as a teaching tool for new team members to understand what each model actually keys off, without reading source code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45875"/>
            <a:ext cx="6296860" cy="71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11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Known Limitations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33360" y="1984673"/>
            <a:ext cx="6296860" cy="432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Door: one training example sits exactly at the tightest class boundary (Close operation); Leave-One-Out correctly flags this as the model's most fragile point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 Corrugation: Side I precision is low (0.31) — only 14 training examples define that class's boundary in a 9-feature space with genuine overlap; more labelled Side I data is the direct fix, not more model complexity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ACV: the fault-ranking rule assumes a specific telemetry schema (pre-aggregated indoor/outdoor temperatures); one of six labelled training cases uses a substantially different raw signal schema (60+ low-level signals) that the current pipeline cannot yet parse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confound in Rail Corrugation: disclosed and checked, but not eliminated — a limitation of how the training data was collected, not of the modelling approach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57202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Next Steps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36788"/>
            <a:ext cx="6296860" cy="2505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 Corrugation: Frequency-domain (FFT) features tuned to the speed/wavelength relationship, specifically targeting Side I precision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ACV: Extend pipeline to map the alternate raw-signal schema onto the same cooling-error logic</a:t>
            </a:r>
          </a:p>
          <a:p>
            <a:pPr marL="751840" lvl="1" indent="-294640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to both telemetry formats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confidence intervals around each Leave-One-Out score, to quantify variation of estimates</a:t>
            </a:r>
            <a:endParaRPr lang="en-US" sz="1450" dirty="0"/>
          </a:p>
        </p:txBody>
      </p:sp>
      <p:pic>
        <p:nvPicPr>
          <p:cNvPr id="2050" name="Picture 2" descr="5 Steps for Moving Forward in Spite of Regrets | Psychology Today Singapore">
            <a:extLst>
              <a:ext uri="{FF2B5EF4-FFF2-40B4-BE49-F238E27FC236}">
                <a16:creationId xmlns:a16="http://schemas.microsoft.com/office/drawing/2014/main" id="{B0CD275F-5337-8F00-3EEC-E075583C2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366" y="1688440"/>
            <a:ext cx="4954200" cy="348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816" y="31336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1149</Words>
  <Application>Microsoft Office PowerPoint</Application>
  <PresentationFormat>Widescreen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stanley ong</dc:creator>
  <cp:lastModifiedBy>stanley ong</cp:lastModifiedBy>
  <cp:revision>6</cp:revision>
  <dcterms:created xsi:type="dcterms:W3CDTF">2026-09-19T06:54:52Z</dcterms:created>
  <dcterms:modified xsi:type="dcterms:W3CDTF">2026-09-19T07:38:25Z</dcterms:modified>
</cp:coreProperties>
</file>